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7"/>
  </p:notesMasterIdLst>
  <p:handoutMasterIdLst>
    <p:handoutMasterId r:id="rId38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2" r:id="rId22"/>
    <p:sldId id="293" r:id="rId23"/>
    <p:sldId id="291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00FC0-9E7A-4C53-8A3B-3C3C9A736C4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8944F-81ED-4843-A3E6-D41A6908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14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122B6-E47E-4A80-A9F3-23FD10D674F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1C5CE-222C-4659-9A99-B99FC42AF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2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7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2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6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8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3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9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25"/>
            <a:ext cx="10972800" cy="1600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0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7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9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349BF3EA-1A78-4F07-BDC0-C8A1BD461199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5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ts val="4800"/>
        </a:lnSpc>
        <a:spcBef>
          <a:spcPct val="0"/>
        </a:spcBef>
        <a:buNone/>
        <a:defRPr sz="4800" kern="1200"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C229362-6D5E-DEF7-1D52-BA155464BB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241345" y="1695809"/>
            <a:ext cx="900907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rgbClr val="1B2022"/>
                </a:solidFill>
                <a:effectLst/>
                <a:latin typeface="Poppins" panose="00000500000000000000" pitchFamily="2" charset="0"/>
              </a:rPr>
              <a:t>ReviewSense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1B2022"/>
                </a:solidFill>
                <a:effectLst/>
                <a:latin typeface="Poppins" panose="00000500000000000000" pitchFamily="2" charset="0"/>
              </a:rPr>
              <a:t> – Milestone 2: Sentiment Analysis &amp;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Sentiment Analysis &amp; Visualization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Project Goal:</a:t>
            </a:r>
            <a:br>
              <a:rPr lang="en-IN" dirty="0"/>
            </a:br>
            <a:r>
              <a:rPr lang="en-IN" dirty="0"/>
              <a:t>Convert customer feedback into measurable sentiment insights using Natural Language Processing (NLP).</a:t>
            </a:r>
          </a:p>
          <a:p>
            <a:r>
              <a:rPr lang="en-IN" dirty="0"/>
              <a:t> </a:t>
            </a:r>
            <a:r>
              <a:rPr lang="en-IN" b="1" dirty="0"/>
              <a:t>Focus:</a:t>
            </a:r>
            <a:br>
              <a:rPr lang="en-IN" dirty="0"/>
            </a:br>
            <a:r>
              <a:rPr lang="en-IN" dirty="0"/>
              <a:t>Classify feedback as </a:t>
            </a:r>
            <a:r>
              <a:rPr lang="en-IN" b="1" dirty="0"/>
              <a:t>Positive, Negative, or Neutral</a:t>
            </a:r>
            <a:r>
              <a:rPr lang="en-IN" dirty="0"/>
              <a:t> and visualize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Do We Need This?</a:t>
            </a:r>
          </a:p>
          <a:p>
            <a:r>
              <a:rPr lang="en-US" dirty="0"/>
              <a:t>Businesses receive large amounts of customer feedback.</a:t>
            </a:r>
          </a:p>
          <a:p>
            <a:r>
              <a:rPr lang="en-US" dirty="0"/>
              <a:t>Manual analysis is slow and inefficient.</a:t>
            </a:r>
          </a:p>
          <a:p>
            <a:r>
              <a:rPr lang="en-US" dirty="0"/>
              <a:t>Hard to understand overall customer satisfaction.</a:t>
            </a:r>
          </a:p>
          <a:p>
            <a:pPr marL="0" indent="0">
              <a:buNone/>
            </a:pPr>
            <a:r>
              <a:rPr lang="en-US" b="1" dirty="0"/>
              <a:t>Solution:</a:t>
            </a:r>
          </a:p>
          <a:p>
            <a:r>
              <a:rPr lang="en-US" dirty="0"/>
              <a:t>Use </a:t>
            </a:r>
            <a:r>
              <a:rPr lang="en-US" b="1" dirty="0"/>
              <a:t>Automated Sentiment Analysis</a:t>
            </a:r>
            <a:r>
              <a:rPr lang="en-US" dirty="0"/>
              <a:t> to:</a:t>
            </a:r>
          </a:p>
          <a:p>
            <a:r>
              <a:rPr lang="en-US" dirty="0"/>
              <a:t>Detect customer emotions</a:t>
            </a:r>
          </a:p>
          <a:p>
            <a:r>
              <a:rPr lang="en-US" dirty="0"/>
              <a:t>Measure satisfaction levels</a:t>
            </a:r>
          </a:p>
          <a:p>
            <a:r>
              <a:rPr lang="en-US" dirty="0"/>
              <a:t>Support better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7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of Milestone 2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Main Objective</a:t>
            </a:r>
          </a:p>
          <a:p>
            <a:r>
              <a:rPr lang="en-US" dirty="0"/>
              <a:t>Analyze cleaned feedback (from Milestone 1) to:</a:t>
            </a:r>
          </a:p>
          <a:p>
            <a:r>
              <a:rPr lang="en-US" dirty="0"/>
              <a:t>Classify sentiment (Positive / Negative / Neutral)</a:t>
            </a:r>
          </a:p>
          <a:p>
            <a:r>
              <a:rPr lang="en-US" dirty="0"/>
              <a:t>Generate a confidence score</a:t>
            </a:r>
          </a:p>
          <a:p>
            <a:r>
              <a:rPr lang="en-US" dirty="0"/>
              <a:t>Create a visual summary</a:t>
            </a:r>
          </a:p>
          <a:p>
            <a:r>
              <a:rPr lang="en-US" dirty="0"/>
              <a:t>Save results for future analysis</a:t>
            </a:r>
          </a:p>
          <a:p>
            <a:endParaRPr lang="en-US" dirty="0"/>
          </a:p>
          <a:p>
            <a:r>
              <a:rPr lang="en-US" dirty="0"/>
              <a:t>This milestone transforms text into meaningful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7945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🛠 Tools &amp; Libraries</a:t>
            </a:r>
          </a:p>
          <a:p>
            <a:r>
              <a:rPr lang="en-IN" b="1" dirty="0"/>
              <a:t>Python</a:t>
            </a:r>
            <a:r>
              <a:rPr lang="en-IN" dirty="0"/>
              <a:t> – Programming language</a:t>
            </a:r>
          </a:p>
          <a:p>
            <a:r>
              <a:rPr lang="en-IN" b="1" dirty="0"/>
              <a:t>pandas</a:t>
            </a:r>
            <a:r>
              <a:rPr lang="en-IN" dirty="0"/>
              <a:t> – Data processing</a:t>
            </a:r>
          </a:p>
          <a:p>
            <a:r>
              <a:rPr lang="en-IN" b="1" dirty="0" err="1"/>
              <a:t>TextBlob</a:t>
            </a:r>
            <a:r>
              <a:rPr lang="en-IN" dirty="0"/>
              <a:t> – Sentiment analysis</a:t>
            </a:r>
          </a:p>
          <a:p>
            <a:r>
              <a:rPr lang="en-IN" b="1" dirty="0"/>
              <a:t>matplotlib</a:t>
            </a:r>
            <a:r>
              <a:rPr lang="en-IN" dirty="0"/>
              <a:t> – Data visualization</a:t>
            </a:r>
          </a:p>
          <a:p>
            <a:endParaRPr lang="en-IN" dirty="0"/>
          </a:p>
          <a:p>
            <a:r>
              <a:rPr lang="en-IN" dirty="0"/>
              <a:t>Easy to use</a:t>
            </a:r>
          </a:p>
          <a:p>
            <a:r>
              <a:rPr lang="en-IN" dirty="0"/>
              <a:t>Powerful for text analysis</a:t>
            </a:r>
          </a:p>
          <a:p>
            <a:r>
              <a:rPr lang="en-IN" dirty="0"/>
              <a:t>Reproducible workflow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0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the System Works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⚙ Step-by-Step Workflow</a:t>
            </a:r>
          </a:p>
          <a:p>
            <a:r>
              <a:rPr lang="en-IN" dirty="0"/>
              <a:t>Read cleaned feedback CSV file</a:t>
            </a:r>
          </a:p>
          <a:p>
            <a:r>
              <a:rPr lang="en-IN" dirty="0"/>
              <a:t>Use </a:t>
            </a:r>
            <a:r>
              <a:rPr lang="en-IN" dirty="0" err="1"/>
              <a:t>TextBlob</a:t>
            </a:r>
            <a:r>
              <a:rPr lang="en-IN" dirty="0"/>
              <a:t> to calculate </a:t>
            </a:r>
            <a:r>
              <a:rPr lang="en-IN" b="1" dirty="0"/>
              <a:t>polarity score</a:t>
            </a:r>
            <a:endParaRPr lang="en-IN" dirty="0"/>
          </a:p>
          <a:p>
            <a:r>
              <a:rPr lang="en-IN" dirty="0"/>
              <a:t>Apply rules:</a:t>
            </a:r>
          </a:p>
          <a:p>
            <a:pPr lvl="1"/>
            <a:r>
              <a:rPr lang="en-IN" dirty="0"/>
              <a:t>Polarity &gt; 0 → Positive</a:t>
            </a:r>
          </a:p>
          <a:p>
            <a:pPr lvl="1"/>
            <a:r>
              <a:rPr lang="en-IN" dirty="0"/>
              <a:t>Polarity &lt; 0 → Negative</a:t>
            </a:r>
          </a:p>
          <a:p>
            <a:pPr lvl="1"/>
            <a:r>
              <a:rPr lang="en-IN" dirty="0"/>
              <a:t>Polarity = 0 → Neutral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Store sentiment + confidence score</a:t>
            </a:r>
          </a:p>
          <a:p>
            <a:r>
              <a:rPr lang="en-IN" dirty="0"/>
              <a:t>Generate bar chart visualization</a:t>
            </a:r>
          </a:p>
          <a:p>
            <a:r>
              <a:rPr lang="en-IN" dirty="0"/>
              <a:t>Save updated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56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Input &amp; Output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303264" cy="366674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Input:</a:t>
            </a:r>
          </a:p>
          <a:p>
            <a:r>
              <a:rPr lang="en-IN" dirty="0"/>
              <a:t>Milestone1_Cleaned_Feedback.csv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Output Files:</a:t>
            </a:r>
          </a:p>
          <a:p>
            <a:r>
              <a:rPr lang="en-IN" dirty="0"/>
              <a:t>Milestone2_Sentiment_Results_new.csv</a:t>
            </a:r>
            <a:br>
              <a:rPr lang="en-IN" dirty="0"/>
            </a:br>
            <a:r>
              <a:rPr lang="en-IN" dirty="0"/>
              <a:t>→ Includes sentiment &amp; confidence score</a:t>
            </a:r>
          </a:p>
          <a:p>
            <a:r>
              <a:rPr lang="en-IN" dirty="0"/>
              <a:t>sentiment_bar_chart.png</a:t>
            </a:r>
            <a:br>
              <a:rPr lang="en-IN" dirty="0"/>
            </a:br>
            <a:r>
              <a:rPr lang="en-IN" dirty="0"/>
              <a:t>→ Visual summary of customer sentiment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3D0D2-5883-1C3F-C26B-E3697F39C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480" y="1006253"/>
            <a:ext cx="4597318" cy="24227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4A6502-2FAD-82EB-C179-C2EECB626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480" y="3776473"/>
            <a:ext cx="4597318" cy="142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5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FD76-FD07-CF14-010D-AEC43AB6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EXPLANATION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CCA9A-FEC5-6DED-9868-F9657E258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368" y="1792208"/>
            <a:ext cx="5932523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3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22E9-47A0-C630-555C-AB7492CB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6D2B-AE03-4D33-3EC8-8700DE88A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1ECE99-A427-E240-35EA-53DC61CC7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68" y="443884"/>
            <a:ext cx="9328851" cy="568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9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5CA5-E581-7086-0337-4788B5CD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8C544-22F9-E2C5-6F84-3B9E22A2C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64" y="2224254"/>
            <a:ext cx="5305214" cy="27958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D7E32C-1E43-6BF0-3ABB-36B9C6C6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07706"/>
            <a:ext cx="5958495" cy="184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8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107C-94BC-0B4B-2127-9AEB493B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AA5715-917A-92DA-F2F1-D9E444802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054718"/>
            <a:ext cx="10972800" cy="361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1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F48E-DE38-CDBB-D766-2C348326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68A0F-EE70-2131-6A19-A73BF3E0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57985"/>
            <a:ext cx="10972800" cy="4525963"/>
          </a:xfrm>
        </p:spPr>
        <p:txBody>
          <a:bodyPr/>
          <a:lstStyle/>
          <a:p>
            <a:r>
              <a:rPr lang="en-US" dirty="0"/>
              <a:t>Customer feedback is converted into clear Positive, Negative, or Neutral results.</a:t>
            </a:r>
          </a:p>
          <a:p>
            <a:r>
              <a:rPr lang="en-US" dirty="0"/>
              <a:t>The system automatically analyzes reviews quickly and accurately.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09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1215-0818-28B8-281C-4F7FC8BC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92" y="1600200"/>
            <a:ext cx="10972800" cy="2157984"/>
          </a:xfrm>
        </p:spPr>
        <p:txBody>
          <a:bodyPr/>
          <a:lstStyle/>
          <a:p>
            <a:r>
              <a:rPr lang="en-US" b="1" dirty="0"/>
              <a:t>Review Sense – Milestone 3</a:t>
            </a:r>
            <a:br>
              <a:rPr lang="en-US" dirty="0"/>
            </a:br>
            <a:r>
              <a:rPr lang="en-US" b="1" dirty="0"/>
              <a:t>Insight &amp; Keyword Extraction &amp; Frequency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00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DD25-41EB-26CA-34F1-D82CB96B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</a:t>
            </a:r>
            <a:r>
              <a:rPr lang="en-IN" b="1" dirty="0" err="1"/>
              <a:t>ReviewSense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427D-2964-4D3E-FDAF-33D38B9C4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21409"/>
            <a:ext cx="10972800" cy="2450591"/>
          </a:xfrm>
        </p:spPr>
        <p:txBody>
          <a:bodyPr/>
          <a:lstStyle/>
          <a:p>
            <a:r>
              <a:rPr lang="en-IN" dirty="0" err="1"/>
              <a:t>ReviewSense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customer feedback data</a:t>
            </a:r>
          </a:p>
          <a:p>
            <a:r>
              <a:rPr lang="en-IN" dirty="0"/>
              <a:t>It helps businesses understand customer opinions</a:t>
            </a:r>
          </a:p>
          <a:p>
            <a:r>
              <a:rPr lang="en-IN" dirty="0"/>
              <a:t>Milestone 1: Data cleaning</a:t>
            </a:r>
          </a:p>
          <a:p>
            <a:r>
              <a:rPr lang="en-IN" dirty="0"/>
              <a:t>Milestone 2: Sentiment Analysis</a:t>
            </a:r>
          </a:p>
          <a:p>
            <a:r>
              <a:rPr lang="en-IN" dirty="0"/>
              <a:t>Milestone 3: Keyword Extraction (Current focus)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69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6F62-8A7D-8B13-0023-163EAB79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CF22-3B60-3BA6-D577-B2CE70EE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1681"/>
            <a:ext cx="10972800" cy="2542031"/>
          </a:xfrm>
        </p:spPr>
        <p:txBody>
          <a:bodyPr/>
          <a:lstStyle/>
          <a:p>
            <a:r>
              <a:rPr lang="en-US" dirty="0"/>
              <a:t>Extract keywords from cleaned feedback</a:t>
            </a:r>
          </a:p>
          <a:p>
            <a:r>
              <a:rPr lang="en-US" dirty="0"/>
              <a:t>Count how frequently each word appears</a:t>
            </a:r>
          </a:p>
          <a:p>
            <a:r>
              <a:rPr lang="en-US" dirty="0"/>
              <a:t>Identify commonly discussed topics</a:t>
            </a:r>
          </a:p>
          <a:p>
            <a:r>
              <a:rPr lang="en-US" dirty="0"/>
              <a:t>Provide insights for business improvement</a:t>
            </a:r>
          </a:p>
          <a:p>
            <a:r>
              <a:rPr lang="en-US" dirty="0"/>
              <a:t>Generate a structured CSV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7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19F1-8B68-09C5-3AF7-E3BEA8A9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Keyword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F25B70-FA73-5E3B-447B-ED90DDACC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76" y="1763617"/>
            <a:ext cx="744626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Detects common customer concerns</a:t>
            </a:r>
          </a:p>
          <a:p>
            <a:r>
              <a:rPr lang="en-US" dirty="0"/>
              <a:t>Highlights frequently praised features</a:t>
            </a:r>
          </a:p>
          <a:p>
            <a:r>
              <a:rPr lang="en-US" dirty="0"/>
              <a:t>Helps identify product strengths &amp; weaknesses</a:t>
            </a:r>
          </a:p>
          <a:p>
            <a:r>
              <a:rPr lang="en-US" dirty="0"/>
              <a:t>Supports decision-making process</a:t>
            </a:r>
          </a:p>
          <a:p>
            <a:r>
              <a:rPr lang="en-US" dirty="0"/>
              <a:t>Useful for visualization like word clouds</a:t>
            </a:r>
          </a:p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DB225-243C-9331-9574-73726921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309" y="4202389"/>
            <a:ext cx="398200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4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B3CD-3257-38F1-504F-71744526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and Output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011FD-326E-0707-52C9-966195FFF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Input File:</a:t>
            </a:r>
            <a:endParaRPr lang="en-US" dirty="0"/>
          </a:p>
          <a:p>
            <a:r>
              <a:rPr lang="en-US" dirty="0"/>
              <a:t>Milestone2_Sentiment_Results_new.csv</a:t>
            </a:r>
          </a:p>
          <a:p>
            <a:r>
              <a:rPr lang="en-US" dirty="0"/>
              <a:t>Contains cleaned feedback text</a:t>
            </a:r>
          </a:p>
          <a:p>
            <a:pPr marL="0" indent="0">
              <a:buNone/>
            </a:pPr>
            <a:r>
              <a:rPr lang="en-US" b="1" dirty="0"/>
              <a:t>Output File:</a:t>
            </a:r>
            <a:endParaRPr lang="en-US" dirty="0"/>
          </a:p>
          <a:p>
            <a:r>
              <a:rPr lang="en-US" dirty="0"/>
              <a:t>Milestone3_Keyword_Insights.csv</a:t>
            </a:r>
          </a:p>
          <a:p>
            <a:r>
              <a:rPr lang="en-US" dirty="0"/>
              <a:t>Columns: keyword, frequency</a:t>
            </a:r>
          </a:p>
          <a:p>
            <a:r>
              <a:rPr lang="en-US" dirty="0"/>
              <a:t>Sorted by highest frequency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65381-07BB-F248-B878-8FFD87E49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63" y="4850047"/>
            <a:ext cx="295316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7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5898-C7B2-AEB2-BB7C-E8FCF21C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E0A1-3828-A77C-C2FC-18A415A49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29385"/>
            <a:ext cx="10972800" cy="2212847"/>
          </a:xfrm>
        </p:spPr>
        <p:txBody>
          <a:bodyPr>
            <a:normAutofit/>
          </a:bodyPr>
          <a:lstStyle/>
          <a:p>
            <a:r>
              <a:rPr lang="en-US" b="1" dirty="0"/>
              <a:t>Python</a:t>
            </a:r>
            <a:r>
              <a:rPr lang="en-US" dirty="0"/>
              <a:t> – Main programming language</a:t>
            </a:r>
          </a:p>
          <a:p>
            <a:r>
              <a:rPr lang="en-US" b="1" dirty="0"/>
              <a:t>pandas</a:t>
            </a:r>
            <a:r>
              <a:rPr lang="en-US" dirty="0"/>
              <a:t> – Data handling and CSV processing</a:t>
            </a:r>
          </a:p>
          <a:p>
            <a:r>
              <a:rPr lang="en-US" b="1" dirty="0"/>
              <a:t>collections (Counter)</a:t>
            </a:r>
            <a:r>
              <a:rPr lang="en-US" dirty="0"/>
              <a:t> – Frequency calculation</a:t>
            </a:r>
          </a:p>
          <a:p>
            <a:r>
              <a:rPr lang="en-US" b="1" dirty="0"/>
              <a:t>re (Regular Expressions)</a:t>
            </a:r>
            <a:r>
              <a:rPr lang="en-US" dirty="0"/>
              <a:t> – Text cleaning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3AF62-FEE6-F08D-31C6-D21C3968C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938" y="4142232"/>
            <a:ext cx="403916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F9EB-1184-84C9-636D-11354EE4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Process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07B7B-61D2-9B16-03A9-B05CE420A56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42416" y="2241048"/>
            <a:ext cx="72420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 cleaned CSV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 feedback text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 special characters using regex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 text into 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 all words in a list</a:t>
            </a:r>
          </a:p>
        </p:txBody>
      </p:sp>
    </p:spTree>
    <p:extLst>
      <p:ext uri="{BB962C8B-B14F-4D97-AF65-F5344CB8AC3E}">
        <p14:creationId xmlns:p14="http://schemas.microsoft.com/office/powerpoint/2010/main" val="27280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5247-CF14-E550-2BE8-27C70F7F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Frequency Calculation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60EA-2588-4047-9935-CE2A0413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20824"/>
            <a:ext cx="10972800" cy="2816351"/>
          </a:xfrm>
        </p:spPr>
        <p:txBody>
          <a:bodyPr/>
          <a:lstStyle/>
          <a:p>
            <a:r>
              <a:rPr lang="en-US" dirty="0"/>
              <a:t>Use Counter() to count word occurrences</a:t>
            </a:r>
          </a:p>
          <a:p>
            <a:r>
              <a:rPr lang="en-US" dirty="0"/>
              <a:t>Convert results into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Sort by frequency (descending order)</a:t>
            </a:r>
          </a:p>
          <a:p>
            <a:r>
              <a:rPr lang="en-US" dirty="0"/>
              <a:t>Save results into new CSV file</a:t>
            </a:r>
          </a:p>
          <a:p>
            <a:r>
              <a:rPr lang="en-US" dirty="0"/>
              <a:t>Display top 10 keywords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BF7864-91A7-FF54-5DD5-CD0AE09E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34" y="4482759"/>
            <a:ext cx="10394987" cy="109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33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0E99-D49F-FEE4-B04B-721A74729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0" y="-411480"/>
            <a:ext cx="6096000" cy="1435608"/>
          </a:xfrm>
        </p:spPr>
        <p:txBody>
          <a:bodyPr/>
          <a:lstStyle/>
          <a:p>
            <a:r>
              <a:rPr lang="en-IN" dirty="0"/>
              <a:t>Code Explanation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B0011-D9FD-1073-A9BD-3E2F39DF9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1839" y="1024128"/>
            <a:ext cx="9227537" cy="549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5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4F56-C936-BFD0-8E56-A276BF28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392" y="0"/>
            <a:ext cx="5318760" cy="1115568"/>
          </a:xfrm>
        </p:spPr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A05DD8-69E4-3D54-4C9C-C96B8D1A6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8732" y="1352882"/>
            <a:ext cx="3938682" cy="452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74EF-9995-90BB-6179-1DB24A06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22199-B9A1-49CA-1293-B376E4787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600201"/>
          </a:xfrm>
        </p:spPr>
        <p:txBody>
          <a:bodyPr/>
          <a:lstStyle/>
          <a:p>
            <a:r>
              <a:rPr lang="en-US" dirty="0"/>
              <a:t>Successfully extracted important keywords</a:t>
            </a:r>
          </a:p>
          <a:p>
            <a:r>
              <a:rPr lang="en-US" dirty="0"/>
              <a:t>Identified frequent customer discussion topics</a:t>
            </a:r>
          </a:p>
          <a:p>
            <a:r>
              <a:rPr lang="en-US" dirty="0"/>
              <a:t>Created structured insight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84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32F0-DF99-9AF8-EBF7-89FB9FEC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11096"/>
            <a:ext cx="10972800" cy="2258568"/>
          </a:xfrm>
        </p:spPr>
        <p:txBody>
          <a:bodyPr/>
          <a:lstStyle/>
          <a:p>
            <a:r>
              <a:rPr lang="en-US" dirty="0"/>
              <a:t>Review Sense: Transforming Customer Feedback into Actionable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45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9357-E9B5-EA29-9C0D-B915D7F1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CA216-1EBC-1383-AE1F-FFA15638A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857787"/>
            <a:ext cx="976274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 milestone of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ReviewSense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Converts analyzed review data into interactive visual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using Python &amp;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businesses understand customer sentiment clearly</a:t>
            </a:r>
          </a:p>
        </p:txBody>
      </p:sp>
    </p:spTree>
    <p:extLst>
      <p:ext uri="{BB962C8B-B14F-4D97-AF65-F5344CB8AC3E}">
        <p14:creationId xmlns:p14="http://schemas.microsoft.com/office/powerpoint/2010/main" val="91941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2F45-31D2-4639-0CD3-03142401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2890E-222A-DF3B-E728-6E2EE2A0A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83081"/>
            <a:ext cx="10972800" cy="4525963"/>
          </a:xfrm>
        </p:spPr>
        <p:txBody>
          <a:bodyPr/>
          <a:lstStyle/>
          <a:p>
            <a:r>
              <a:rPr lang="en-US" dirty="0"/>
              <a:t>Convert processed data into meaningful visual analytics</a:t>
            </a:r>
          </a:p>
          <a:p>
            <a:r>
              <a:rPr lang="en-US" dirty="0"/>
              <a:t>Allow dynamic filtering of data</a:t>
            </a:r>
          </a:p>
          <a:p>
            <a:r>
              <a:rPr lang="en-US" dirty="0"/>
              <a:t>Help stakeholders monitor customer satisfaction</a:t>
            </a:r>
          </a:p>
          <a:p>
            <a:r>
              <a:rPr lang="en-US" dirty="0"/>
              <a:t>Enable export of filtered insights for reporting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Turn raw data into business-ready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2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4B33-70CB-717B-0F55-A74BBEA5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A09E9C-6961-9A42-3EA6-48E2B640A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160380"/>
            <a:ext cx="65460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Core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Data processing and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Interactive dashboard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matplotlib &amp; seaborn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Data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wordcloud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Keyword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datetime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Date filtering</a:t>
            </a:r>
          </a:p>
        </p:txBody>
      </p:sp>
    </p:spTree>
    <p:extLst>
      <p:ext uri="{BB962C8B-B14F-4D97-AF65-F5344CB8AC3E}">
        <p14:creationId xmlns:p14="http://schemas.microsoft.com/office/powerpoint/2010/main" val="193908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E9F1-6784-48DA-5863-8D33D706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2" y="-564888"/>
            <a:ext cx="10972800" cy="1600200"/>
          </a:xfrm>
        </p:spPr>
        <p:txBody>
          <a:bodyPr/>
          <a:lstStyle/>
          <a:p>
            <a:r>
              <a:rPr lang="en-IN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C06C-5D84-FA2C-8886-464ACE29B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21661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ReviewSense</a:t>
            </a:r>
            <a:r>
              <a:rPr lang="en-US" dirty="0"/>
              <a:t> follows a structured 3-step pipeline: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Data Cleaning &amp; Sentiment Analysis (Milestone 2)</a:t>
            </a:r>
            <a:endParaRPr lang="en-US" dirty="0"/>
          </a:p>
          <a:p>
            <a:pPr lvl="1"/>
            <a:r>
              <a:rPr lang="en-US" dirty="0"/>
              <a:t>Reviews are cleaned and processed</a:t>
            </a:r>
          </a:p>
          <a:p>
            <a:pPr lvl="1"/>
            <a:r>
              <a:rPr lang="en-US" dirty="0"/>
              <a:t>Sentiment score is calculated </a:t>
            </a:r>
          </a:p>
          <a:p>
            <a:pPr lvl="1"/>
            <a:r>
              <a:rPr lang="en-US" dirty="0"/>
              <a:t>(Positive / Negative / Neutral)</a:t>
            </a:r>
          </a:p>
          <a:p>
            <a:r>
              <a:rPr lang="en-US" b="1" dirty="0"/>
              <a:t>Keyword Extraction (Milestone 3)</a:t>
            </a:r>
            <a:endParaRPr lang="en-US" dirty="0"/>
          </a:p>
          <a:p>
            <a:pPr lvl="1"/>
            <a:r>
              <a:rPr lang="en-US" dirty="0"/>
              <a:t>Important keywords are identified</a:t>
            </a:r>
          </a:p>
          <a:p>
            <a:pPr lvl="1"/>
            <a:r>
              <a:rPr lang="en-US" dirty="0"/>
              <a:t>Frequency of each keyword is calculated</a:t>
            </a:r>
          </a:p>
          <a:p>
            <a:r>
              <a:rPr lang="en-US" b="1" dirty="0"/>
              <a:t>Interactive Visualization (Milestone 4)</a:t>
            </a:r>
            <a:endParaRPr lang="en-US" dirty="0"/>
          </a:p>
          <a:p>
            <a:pPr lvl="1"/>
            <a:r>
              <a:rPr lang="en-US" dirty="0"/>
              <a:t>Processed data is displayed in dashboard format</a:t>
            </a:r>
          </a:p>
          <a:p>
            <a:pPr lvl="1"/>
            <a:r>
              <a:rPr lang="en-US" dirty="0"/>
              <a:t>Users explore insights dynamically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F6CAAE-DF85-E403-FA7E-14FC000DC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1D24F5-E36B-B21C-0423-3086D0748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AFE6494-E9B8-8B09-C645-45EA821ED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799"/>
            <a:ext cx="5227320" cy="16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FEE2FAC-5AB8-6FA6-24DB-924C55808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799"/>
            <a:ext cx="7879080" cy="1295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A94972-DF24-E582-90B4-E0EF797B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511661"/>
            <a:ext cx="6432794" cy="183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7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BB9D-D25A-4126-A99F-B0C50514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A3AC-7F4F-FA3B-5313-EF1BE8CA0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Interactive Features</a:t>
            </a:r>
          </a:p>
          <a:p>
            <a:r>
              <a:rPr lang="en-IN" dirty="0"/>
              <a:t>Sidebar filters:</a:t>
            </a:r>
          </a:p>
          <a:p>
            <a:pPr lvl="1"/>
            <a:r>
              <a:rPr lang="en-IN" dirty="0"/>
              <a:t>Sentiment (Positive / Negative / Neutral)</a:t>
            </a:r>
          </a:p>
          <a:p>
            <a:pPr lvl="1"/>
            <a:r>
              <a:rPr lang="en-IN" dirty="0"/>
              <a:t>Product selection</a:t>
            </a:r>
          </a:p>
          <a:p>
            <a:pPr lvl="1"/>
            <a:r>
              <a:rPr lang="en-IN" dirty="0"/>
              <a:t>Date range filter</a:t>
            </a:r>
          </a:p>
          <a:p>
            <a:r>
              <a:rPr lang="en-IN" dirty="0"/>
              <a:t>Real-time KPI metrics:</a:t>
            </a:r>
          </a:p>
          <a:p>
            <a:pPr lvl="1"/>
            <a:r>
              <a:rPr lang="en-IN" dirty="0"/>
              <a:t>Total Reviews</a:t>
            </a:r>
          </a:p>
          <a:p>
            <a:pPr lvl="1"/>
            <a:r>
              <a:rPr lang="en-IN" dirty="0"/>
              <a:t>Positive %</a:t>
            </a:r>
          </a:p>
          <a:p>
            <a:pPr lvl="1"/>
            <a:r>
              <a:rPr lang="en-IN" dirty="0"/>
              <a:t>Negative %</a:t>
            </a:r>
          </a:p>
          <a:p>
            <a:pPr lvl="1"/>
            <a:r>
              <a:rPr lang="en-IN" dirty="0"/>
              <a:t>Neutral %</a:t>
            </a:r>
          </a:p>
          <a:p>
            <a:r>
              <a:rPr lang="en-IN" dirty="0"/>
              <a:t>Filtered data preview</a:t>
            </a:r>
          </a:p>
          <a:p>
            <a:r>
              <a:rPr lang="en-IN" dirty="0"/>
              <a:t>CSV download options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25AB9-0A2E-4F51-FEB4-F8FE4C5F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885" y="2723795"/>
            <a:ext cx="3019846" cy="2534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50402F-7386-43E0-CE5E-C9F3EA343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795" y="2723795"/>
            <a:ext cx="2905530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9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35DC-B345-B792-9CA8-3FCBC8DCB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-301752"/>
            <a:ext cx="10972800" cy="1600200"/>
          </a:xfrm>
        </p:spPr>
        <p:txBody>
          <a:bodyPr/>
          <a:lstStyle/>
          <a:p>
            <a:r>
              <a:rPr lang="en-IN" dirty="0"/>
              <a:t>Sentiment Visualizations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FAE2C5-2C18-F0EC-B8C5-356EF040EF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464" y="1298448"/>
            <a:ext cx="70602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Sentiment Distribution Bar Chart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Shows overall positive, negative, neutral 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Monthly Sentiment Trend Graph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Displays how sentiment changes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Confidence Score Histogram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Shows strength of sentiment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3BA73-A482-7717-CF7C-7ED493A8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612" y="1883506"/>
            <a:ext cx="3659026" cy="2587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0CCBF-E391-EEC2-904F-582BB8BF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3795342"/>
            <a:ext cx="4690872" cy="258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4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9D7D-4969-7478-BDC3-B634F04D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Keyword &amp; Product Performance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4329C-6786-8090-C52A-1B58CE00C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Product-wise Sentiment Analysis</a:t>
            </a:r>
          </a:p>
          <a:p>
            <a:r>
              <a:rPr lang="en-US" dirty="0"/>
              <a:t>Product sentiment summary table</a:t>
            </a:r>
          </a:p>
          <a:p>
            <a:r>
              <a:rPr lang="en-US" dirty="0"/>
              <a:t>Positive percentage ranking</a:t>
            </a:r>
          </a:p>
          <a:p>
            <a:r>
              <a:rPr lang="en-US" dirty="0"/>
              <a:t>Sentiment heatmap visualization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Keyword Insights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Top keyword frequency chart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Word Cloud visualization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5EE9C-4EC1-EFFA-8B09-16EF6501C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776841"/>
            <a:ext cx="5085413" cy="1816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763B3-F009-8D2B-8D91-05425AAF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316" y="3770232"/>
            <a:ext cx="2511046" cy="254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88F9-B45B-6ECD-400A-309DDD62E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ED4F8C-8113-4C93-DC09-4D1634A55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160" y="1951856"/>
            <a:ext cx="114865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converts large volumes of customer reviews into clear visual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quick identification of customer satisfaction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detect product strengths and problem areas instantly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management in making faster, data-driven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overall customer experience through insight-based actions</a:t>
            </a:r>
          </a:p>
        </p:txBody>
      </p:sp>
    </p:spTree>
    <p:extLst>
      <p:ext uri="{BB962C8B-B14F-4D97-AF65-F5344CB8AC3E}">
        <p14:creationId xmlns:p14="http://schemas.microsoft.com/office/powerpoint/2010/main" val="33512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278C-B73C-DBB3-76B1-F3CAB0E3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B202E-6896-C2D3-1642-8397CE4EE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1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ffective and Engaging Picture background PowerPoint Designs for ...">
            <a:extLst>
              <a:ext uri="{FF2B5EF4-FFF2-40B4-BE49-F238E27FC236}">
                <a16:creationId xmlns:a16="http://schemas.microsoft.com/office/drawing/2014/main" id="{2A985435-77E8-C177-F164-5B59BC935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E19764-ADC0-D58F-AD2A-D1C6A3CA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008" y="-265491"/>
            <a:ext cx="3852672" cy="996696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Milestone-3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5CEBF8-BB16-F3D4-509A-D0DF7ECBD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732" y="456647"/>
            <a:ext cx="11504624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</a:rPr>
              <a:t>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ReviewSense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 analyzes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customer feedback reviews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 to identify frequently used keywords.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The system extracts </a:t>
            </a:r>
            <a:r>
              <a:rPr lang="en-US" sz="1800" b="1" dirty="0">
                <a:latin typeface="Leelawadee UI" panose="020B0502040204020203" pitchFamily="34" charset="-34"/>
                <a:cs typeface="Leelawadee UI" panose="020B0502040204020203" pitchFamily="34" charset="-34"/>
              </a:rPr>
              <a:t>keywords from cleaned feedback text</a:t>
            </a:r>
            <a:r>
              <a:rPr lang="en-US" sz="18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and calculates how frequently each word appears.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It extracts important words and calculates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how often each keyword appears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 in the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The results help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customer concerns, product features, and common discussion topics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cs typeface="Leelawadee UI" panose="020B0502040204020203" pitchFamily="34" charset="-34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Medium" panose="020B0603020102020204" pitchFamily="34" charset="0"/>
                <a:cs typeface="Leelawadee UI" panose="020B0502040204020203" pitchFamily="34" charset="-34"/>
              </a:rPr>
              <a:t>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Medium" panose="020B0603020102020204" pitchFamily="34" charset="0"/>
              <a:cs typeface="Leelawadee UI" panose="020B0502040204020203" pitchFamily="34" charset="-34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Input Data Loading-”</a:t>
            </a:r>
            <a:r>
              <a:rPr lang="en-IN" sz="1800" dirty="0"/>
              <a:t> Milestone2_Sentiment_Results_new.csv”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Keyword Extraction-</a:t>
            </a:r>
            <a:r>
              <a:rPr lang="en-US" sz="1800" dirty="0"/>
              <a:t>Regular expressions remove </a:t>
            </a:r>
            <a:r>
              <a:rPr lang="en-US" sz="1800" b="1" dirty="0"/>
              <a:t>numbers, symbols, and special characters</a:t>
            </a:r>
            <a:r>
              <a:rPr lang="en-US" sz="18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Frequency Calculation-</a:t>
            </a:r>
            <a:r>
              <a:rPr lang="en-US" sz="1800" b="1" dirty="0"/>
              <a:t>Counter() function</a:t>
            </a:r>
            <a:r>
              <a:rPr lang="en-US" sz="1800" dirty="0"/>
              <a:t>, the program counts how many times each keyword appears.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Sorting Results-S</a:t>
            </a:r>
            <a:r>
              <a:rPr lang="en-US" sz="1800" dirty="0" err="1"/>
              <a:t>orted</a:t>
            </a:r>
            <a:r>
              <a:rPr lang="en-US" sz="1800" dirty="0"/>
              <a:t> </a:t>
            </a:r>
            <a:r>
              <a:rPr lang="en-US" sz="1800" b="1" dirty="0"/>
              <a:t>from highest frequency to lowest frequency</a:t>
            </a:r>
            <a:r>
              <a:rPr lang="en-US" sz="1800" dirty="0"/>
              <a:t> to identify the most important terms.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Output Generation-</a:t>
            </a:r>
            <a:r>
              <a:rPr lang="en-US" sz="1800" dirty="0"/>
              <a:t>The results are stored in a CSV file- “</a:t>
            </a:r>
            <a:r>
              <a:rPr lang="en-IN" sz="1800" dirty="0"/>
              <a:t>Milestone3_Keyword_Insights.csv</a:t>
            </a:r>
            <a:r>
              <a:rPr lang="en-US" sz="1800" dirty="0"/>
              <a:t>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Franklin Gothic Medium" panose="020B0603020102020204" pitchFamily="34" charset="0"/>
                <a:cs typeface="Leelawadee UI" panose="020B0502040204020203" pitchFamily="34" charset="-34"/>
              </a:rPr>
              <a:t>Technological Stack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Franklin Gothic Medium" panose="020B0603020102020204" pitchFamily="34" charset="0"/>
              <a:cs typeface="Leelawadee UI" panose="020B0502040204020203" pitchFamily="34" charset="-34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Pandas-</a:t>
            </a:r>
            <a:r>
              <a:rPr lang="en-US" sz="1800" b="1" dirty="0"/>
              <a:t>loading and processing CSV datasets</a:t>
            </a:r>
            <a:r>
              <a:rPr lang="en-US" sz="18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Collections (Counter)-</a:t>
            </a:r>
            <a:r>
              <a:rPr lang="en-US" sz="1800" b="1" dirty="0"/>
              <a:t>count the frequency of each keyword</a:t>
            </a:r>
            <a:r>
              <a:rPr lang="en-US" sz="18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Regular Expressions (re)-</a:t>
            </a:r>
            <a:r>
              <a:rPr lang="en-US" sz="1800" dirty="0"/>
              <a:t>Used to </a:t>
            </a:r>
            <a:r>
              <a:rPr lang="en-US" sz="1800" b="1" dirty="0"/>
              <a:t>clean the text data</a:t>
            </a:r>
            <a:r>
              <a:rPr lang="en-US" sz="1800" dirty="0"/>
              <a:t> by removing special characters and numbers.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5216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6331-8112-1150-7CAD-F5BD3E93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48AB-F464-C1AA-EFF7-0AF72E10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Effective and Engaging Picture background PowerPoint Designs for ...">
            <a:extLst>
              <a:ext uri="{FF2B5EF4-FFF2-40B4-BE49-F238E27FC236}">
                <a16:creationId xmlns:a16="http://schemas.microsoft.com/office/drawing/2014/main" id="{4D8BA693-EB1F-394D-F4EA-5D35D9FDE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400FA2-4C67-A1DD-DF9F-145C03098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66018"/>
            <a:ext cx="4643521" cy="4525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B68EFD-ACB9-A9BE-D3F4-E6A24448C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237" y="1166017"/>
            <a:ext cx="3397046" cy="45259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BCC4CF-37BA-9D1A-988A-F3D9AD00C13F}"/>
              </a:ext>
            </a:extLst>
          </p:cNvPr>
          <p:cNvSpPr txBox="1"/>
          <p:nvPr/>
        </p:nvSpPr>
        <p:spPr>
          <a:xfrm>
            <a:off x="3649057" y="30114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doni MT" panose="02070603080606020203" pitchFamily="18" charset="0"/>
              </a:rPr>
              <a:t>Milestone-3 Output</a:t>
            </a:r>
            <a:endParaRPr lang="en-IN" sz="36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0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mpany background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pany meeting presentation.potx" id="{77F2D8A2-507B-4878-B2FF-8D528D9C7FD9}" vid="{1CC704D5-A0BA-4179-BDE4-EF17843D99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Company meeting presentation</Template>
  <TotalTime>427</TotalTime>
  <Words>1029</Words>
  <Application>Microsoft Office PowerPoint</Application>
  <PresentationFormat>Widescreen</PresentationFormat>
  <Paragraphs>196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Baskerville Old Face</vt:lpstr>
      <vt:lpstr>Bodoni MT</vt:lpstr>
      <vt:lpstr>Century Gothic</vt:lpstr>
      <vt:lpstr>Courier New</vt:lpstr>
      <vt:lpstr>Franklin Gothic Medium</vt:lpstr>
      <vt:lpstr>Leelawadee UI</vt:lpstr>
      <vt:lpstr>Palatino Linotype</vt:lpstr>
      <vt:lpstr>Poppins</vt:lpstr>
      <vt:lpstr>Company background presentation</vt:lpstr>
      <vt:lpstr>ReviewSense – Milestone 2: Sentiment Analysis &amp; Visualization </vt:lpstr>
      <vt:lpstr>Sentiment Analysis &amp; Visualization </vt:lpstr>
      <vt:lpstr>Problem Statement</vt:lpstr>
      <vt:lpstr>Objective of Milestone 2 </vt:lpstr>
      <vt:lpstr>Technologies Used</vt:lpstr>
      <vt:lpstr>How the System Works </vt:lpstr>
      <vt:lpstr>Input &amp; Output </vt:lpstr>
      <vt:lpstr>CODE EXPLANATION</vt:lpstr>
      <vt:lpstr>PowerPoint Presentation</vt:lpstr>
      <vt:lpstr>OUTPUT</vt:lpstr>
      <vt:lpstr>Output</vt:lpstr>
      <vt:lpstr>Conclusion</vt:lpstr>
      <vt:lpstr>Review Sense – Milestone 3 Insight &amp; Keyword Extraction &amp; Frequency Analysis</vt:lpstr>
      <vt:lpstr>Introduction to ReviewSense</vt:lpstr>
      <vt:lpstr>Objective</vt:lpstr>
      <vt:lpstr>Keyword Extraction</vt:lpstr>
      <vt:lpstr>Input and Output Files</vt:lpstr>
      <vt:lpstr>Technologies</vt:lpstr>
      <vt:lpstr>Working Process</vt:lpstr>
      <vt:lpstr>Frequency Calculation Process</vt:lpstr>
      <vt:lpstr>Code Explanation</vt:lpstr>
      <vt:lpstr>Output</vt:lpstr>
      <vt:lpstr>Conclusion</vt:lpstr>
      <vt:lpstr>Review Sense: Transforming Customer Feedback into Actionable Insights</vt:lpstr>
      <vt:lpstr>Introduction </vt:lpstr>
      <vt:lpstr>Objective</vt:lpstr>
      <vt:lpstr>Technology Stack</vt:lpstr>
      <vt:lpstr>Workflow</vt:lpstr>
      <vt:lpstr>Dashboard Key Features</vt:lpstr>
      <vt:lpstr>Sentiment Visualizations</vt:lpstr>
      <vt:lpstr>Keyword &amp; Product Performance Insights</vt:lpstr>
      <vt:lpstr>Conclusion</vt:lpstr>
      <vt:lpstr>PowerPoint Presentation</vt:lpstr>
      <vt:lpstr>Milestone-3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PRATHISH M S</dc:creator>
  <cp:lastModifiedBy>PRATHISH M S</cp:lastModifiedBy>
  <cp:revision>9</cp:revision>
  <dcterms:created xsi:type="dcterms:W3CDTF">2026-02-16T13:24:43Z</dcterms:created>
  <dcterms:modified xsi:type="dcterms:W3CDTF">2026-03-13T15:51:59Z</dcterms:modified>
</cp:coreProperties>
</file>